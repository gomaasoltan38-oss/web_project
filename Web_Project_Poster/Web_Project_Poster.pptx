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20104100" cy="13404850"/>
  <p:notesSz cx="20104100" cy="1340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87AFD"/>
    <a:srgbClr val="F2F4FF"/>
    <a:srgbClr val="D0DFF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3" d="100"/>
          <a:sy n="43" d="100"/>
        </p:scale>
        <p:origin x="1138" y="29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8712200" cy="6715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11387138" y="0"/>
            <a:ext cx="8712200" cy="6715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FACB34-E70A-4830-894B-10B5F6B7E17F}" type="datetimeFigureOut">
              <a:rPr lang="en-US" smtClean="0"/>
              <a:t>12/14/2025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661150" y="1676400"/>
            <a:ext cx="6781800" cy="4522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2009775" y="6451600"/>
            <a:ext cx="16084550" cy="52784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2733338"/>
            <a:ext cx="8712200" cy="6715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11387138" y="12733338"/>
            <a:ext cx="8712200" cy="6715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D422D-BC98-4D0A-9127-04A999C06E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765778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3D422D-BC98-4D0A-9127-04A999C06EB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7840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507807" y="4155503"/>
            <a:ext cx="17088486" cy="28150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015615" y="7506716"/>
            <a:ext cx="14072870" cy="335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1005205" y="3083115"/>
            <a:ext cx="8745284" cy="88472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10353611" y="3083115"/>
            <a:ext cx="8745284" cy="88472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12/14/2025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12/14/2025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12/14/2025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05205" y="536194"/>
            <a:ext cx="18093690" cy="2144776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1005205" y="3083115"/>
            <a:ext cx="18093690" cy="88472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835394" y="12466511"/>
            <a:ext cx="6433312" cy="670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1005205" y="12466511"/>
            <a:ext cx="4623943" cy="670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12/14/2025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4474953" y="12466511"/>
            <a:ext cx="4623943" cy="670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0DF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Freeform: Shape 267">
            <a:extLst>
              <a:ext uri="{FF2B5EF4-FFF2-40B4-BE49-F238E27FC236}">
                <a16:creationId xmlns:a16="http://schemas.microsoft.com/office/drawing/2014/main" id="{E73EC868-7432-62A4-7DEF-6181B408BBF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-17644"/>
            <a:ext cx="20104100" cy="2574752"/>
          </a:xfrm>
          <a:custGeom>
            <a:avLst/>
            <a:gdLst>
              <a:gd name="connsiteX0" fmla="*/ 0 w 6228559"/>
              <a:gd name="connsiteY0" fmla="*/ 0 h 988080"/>
              <a:gd name="connsiteX1" fmla="*/ 6228559 w 6228559"/>
              <a:gd name="connsiteY1" fmla="*/ 0 h 988080"/>
              <a:gd name="connsiteX2" fmla="*/ 6228559 w 6228559"/>
              <a:gd name="connsiteY2" fmla="*/ 655307 h 988080"/>
              <a:gd name="connsiteX3" fmla="*/ 5895786 w 6228559"/>
              <a:gd name="connsiteY3" fmla="*/ 988080 h 988080"/>
              <a:gd name="connsiteX4" fmla="*/ 332773 w 6228559"/>
              <a:gd name="connsiteY4" fmla="*/ 988080 h 988080"/>
              <a:gd name="connsiteX5" fmla="*/ 0 w 6228559"/>
              <a:gd name="connsiteY5" fmla="*/ 655307 h 988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28559" h="988080">
                <a:moveTo>
                  <a:pt x="0" y="0"/>
                </a:moveTo>
                <a:lnTo>
                  <a:pt x="6228559" y="0"/>
                </a:lnTo>
                <a:lnTo>
                  <a:pt x="6228559" y="655307"/>
                </a:lnTo>
                <a:cubicBezTo>
                  <a:pt x="6228559" y="839092"/>
                  <a:pt x="6079571" y="988080"/>
                  <a:pt x="5895786" y="988080"/>
                </a:cubicBezTo>
                <a:lnTo>
                  <a:pt x="332773" y="988080"/>
                </a:lnTo>
                <a:cubicBezTo>
                  <a:pt x="148988" y="988080"/>
                  <a:pt x="0" y="839092"/>
                  <a:pt x="0" y="655307"/>
                </a:cubicBezTo>
                <a:close/>
              </a:path>
            </a:pathLst>
          </a:custGeom>
          <a:solidFill>
            <a:srgbClr val="F2F4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0" name="TextBox 269">
            <a:extLst>
              <a:ext uri="{FF2B5EF4-FFF2-40B4-BE49-F238E27FC236}">
                <a16:creationId xmlns:a16="http://schemas.microsoft.com/office/drawing/2014/main" id="{0B20FD0D-692D-1FC3-11C8-3DFE473C0FDC}"/>
              </a:ext>
            </a:extLst>
          </p:cNvPr>
          <p:cNvSpPr txBox="1"/>
          <p:nvPr/>
        </p:nvSpPr>
        <p:spPr>
          <a:xfrm>
            <a:off x="6117890" y="485197"/>
            <a:ext cx="865899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 err="1">
                <a:solidFill>
                  <a:srgbClr val="387AFD"/>
                </a:solidFill>
              </a:rPr>
              <a:t>Beheira</a:t>
            </a:r>
            <a:r>
              <a:rPr lang="en-US" sz="4800" b="1" dirty="0">
                <a:solidFill>
                  <a:srgbClr val="387AFD"/>
                </a:solidFill>
              </a:rPr>
              <a:t> Landmarks Website</a:t>
            </a:r>
          </a:p>
        </p:txBody>
      </p:sp>
      <p:grpSp>
        <p:nvGrpSpPr>
          <p:cNvPr id="274" name="Group 273">
            <a:extLst>
              <a:ext uri="{FF2B5EF4-FFF2-40B4-BE49-F238E27FC236}">
                <a16:creationId xmlns:a16="http://schemas.microsoft.com/office/drawing/2014/main" id="{0C7C72F9-C37D-2E29-7D70-4C3327363E60}"/>
              </a:ext>
            </a:extLst>
          </p:cNvPr>
          <p:cNvGrpSpPr/>
          <p:nvPr/>
        </p:nvGrpSpPr>
        <p:grpSpPr>
          <a:xfrm>
            <a:off x="6575617" y="1598652"/>
            <a:ext cx="6506935" cy="410151"/>
            <a:chOff x="6575617" y="1326691"/>
            <a:chExt cx="6506935" cy="410151"/>
          </a:xfrm>
        </p:grpSpPr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CDFA6ED8-28E2-B582-97B1-B0E1450D029C}"/>
                </a:ext>
              </a:extLst>
            </p:cNvPr>
            <p:cNvSpPr txBox="1"/>
            <p:nvPr/>
          </p:nvSpPr>
          <p:spPr>
            <a:xfrm>
              <a:off x="6575617" y="1330970"/>
              <a:ext cx="19094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Mohamed Adel</a:t>
              </a:r>
            </a:p>
          </p:txBody>
        </p:sp>
        <p:sp>
          <p:nvSpPr>
            <p:cNvPr id="272" name="TextBox 271">
              <a:extLst>
                <a:ext uri="{FF2B5EF4-FFF2-40B4-BE49-F238E27FC236}">
                  <a16:creationId xmlns:a16="http://schemas.microsoft.com/office/drawing/2014/main" id="{EA70B869-37C0-63A7-B3D9-60ABC6A07065}"/>
                </a:ext>
              </a:extLst>
            </p:cNvPr>
            <p:cNvSpPr txBox="1"/>
            <p:nvPr/>
          </p:nvSpPr>
          <p:spPr>
            <a:xfrm>
              <a:off x="10959855" y="1326691"/>
              <a:ext cx="212269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Mohamed Sultan</a:t>
              </a:r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18100EB5-53D1-8DE8-FF90-C714E7FD4B49}"/>
                </a:ext>
              </a:extLst>
            </p:cNvPr>
            <p:cNvSpPr txBox="1"/>
            <p:nvPr/>
          </p:nvSpPr>
          <p:spPr>
            <a:xfrm>
              <a:off x="8761259" y="1336732"/>
              <a:ext cx="1867819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Khaled Ahmed</a:t>
              </a:r>
            </a:p>
          </p:txBody>
        </p:sp>
      </p:grpSp>
      <p:grpSp>
        <p:nvGrpSpPr>
          <p:cNvPr id="281" name="Group 280">
            <a:extLst>
              <a:ext uri="{FF2B5EF4-FFF2-40B4-BE49-F238E27FC236}">
                <a16:creationId xmlns:a16="http://schemas.microsoft.com/office/drawing/2014/main" id="{ADF57FE7-16E4-8983-818D-5BF362F45344}"/>
              </a:ext>
            </a:extLst>
          </p:cNvPr>
          <p:cNvGrpSpPr/>
          <p:nvPr/>
        </p:nvGrpSpPr>
        <p:grpSpPr>
          <a:xfrm>
            <a:off x="1136650" y="553072"/>
            <a:ext cx="1261884" cy="1747959"/>
            <a:chOff x="739985" y="553072"/>
            <a:chExt cx="1261884" cy="1747959"/>
          </a:xfrm>
        </p:grpSpPr>
        <p:pic>
          <p:nvPicPr>
            <p:cNvPr id="275" name="Picture 274">
              <a:extLst>
                <a:ext uri="{FF2B5EF4-FFF2-40B4-BE49-F238E27FC236}">
                  <a16:creationId xmlns:a16="http://schemas.microsoft.com/office/drawing/2014/main" id="{D29F07AA-C78D-64AE-4F8A-002D8777FF1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894923" y="553072"/>
              <a:ext cx="925755" cy="1006292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6" name="TextBox 275">
              <a:extLst>
                <a:ext uri="{FF2B5EF4-FFF2-40B4-BE49-F238E27FC236}">
                  <a16:creationId xmlns:a16="http://schemas.microsoft.com/office/drawing/2014/main" id="{49B52D24-FFBA-EEF7-5D5B-14CB7575CCA4}"/>
                </a:ext>
              </a:extLst>
            </p:cNvPr>
            <p:cNvSpPr txBox="1"/>
            <p:nvPr/>
          </p:nvSpPr>
          <p:spPr>
            <a:xfrm>
              <a:off x="739985" y="1654700"/>
              <a:ext cx="126188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Damanhur</a:t>
              </a:r>
            </a:p>
            <a:p>
              <a:pPr algn="ctr"/>
              <a:r>
                <a:rPr lang="en-US" dirty="0"/>
                <a:t> University</a:t>
              </a:r>
            </a:p>
          </p:txBody>
        </p:sp>
      </p:grpSp>
      <p:grpSp>
        <p:nvGrpSpPr>
          <p:cNvPr id="282" name="Group 281">
            <a:extLst>
              <a:ext uri="{FF2B5EF4-FFF2-40B4-BE49-F238E27FC236}">
                <a16:creationId xmlns:a16="http://schemas.microsoft.com/office/drawing/2014/main" id="{171CCA50-C380-31A2-096F-56A44EB31C2F}"/>
              </a:ext>
            </a:extLst>
          </p:cNvPr>
          <p:cNvGrpSpPr/>
          <p:nvPr/>
        </p:nvGrpSpPr>
        <p:grpSpPr>
          <a:xfrm>
            <a:off x="2584741" y="259388"/>
            <a:ext cx="2377574" cy="2099637"/>
            <a:chOff x="2188076" y="259388"/>
            <a:chExt cx="2377574" cy="2099637"/>
          </a:xfrm>
        </p:grpSpPr>
        <p:pic>
          <p:nvPicPr>
            <p:cNvPr id="262" name="Picture 261" descr="A logo with text and symbols&#10;&#10;Description automatically generated with medium confidence">
              <a:extLst>
                <a:ext uri="{FF2B5EF4-FFF2-40B4-BE49-F238E27FC236}">
                  <a16:creationId xmlns:a16="http://schemas.microsoft.com/office/drawing/2014/main" id="{FD9D2F8B-0565-BE33-E728-EADA51439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77942" y="259388"/>
              <a:ext cx="1597841" cy="1597841"/>
            </a:xfrm>
            <a:prstGeom prst="rect">
              <a:avLst/>
            </a:prstGeom>
          </p:spPr>
        </p:pic>
        <p:sp>
          <p:nvSpPr>
            <p:cNvPr id="277" name="TextBox 276">
              <a:extLst>
                <a:ext uri="{FF2B5EF4-FFF2-40B4-BE49-F238E27FC236}">
                  <a16:creationId xmlns:a16="http://schemas.microsoft.com/office/drawing/2014/main" id="{BCE6736E-47CE-0FC1-5F13-BB3C82F4117D}"/>
                </a:ext>
              </a:extLst>
            </p:cNvPr>
            <p:cNvSpPr txBox="1"/>
            <p:nvPr/>
          </p:nvSpPr>
          <p:spPr>
            <a:xfrm>
              <a:off x="2188076" y="1712694"/>
              <a:ext cx="237757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>
                  <a:effectLst/>
                </a:rPr>
                <a:t>Faculty of Computers</a:t>
              </a:r>
              <a:br>
                <a:rPr lang="en-US" dirty="0">
                  <a:effectLst/>
                </a:rPr>
              </a:br>
              <a:r>
                <a:rPr lang="en-US" dirty="0">
                  <a:effectLst/>
                </a:rPr>
                <a:t>and Information</a:t>
              </a:r>
              <a:endParaRPr lang="en-US" dirty="0"/>
            </a:p>
          </p:txBody>
        </p:sp>
      </p:grpSp>
      <p:sp>
        <p:nvSpPr>
          <p:cNvPr id="279" name="TextBox 278">
            <a:extLst>
              <a:ext uri="{FF2B5EF4-FFF2-40B4-BE49-F238E27FC236}">
                <a16:creationId xmlns:a16="http://schemas.microsoft.com/office/drawing/2014/main" id="{56A7344A-6F5E-CCA4-1E8D-54D2CD36CE01}"/>
              </a:ext>
            </a:extLst>
          </p:cNvPr>
          <p:cNvSpPr txBox="1"/>
          <p:nvPr/>
        </p:nvSpPr>
        <p:spPr>
          <a:xfrm>
            <a:off x="16322326" y="317554"/>
            <a:ext cx="365999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>
                <a:effectLst/>
              </a:rPr>
              <a:t>Research Project (2025 - 2026)</a:t>
            </a:r>
            <a:br>
              <a:rPr lang="en-US" b="1" dirty="0">
                <a:effectLst/>
              </a:rPr>
            </a:br>
            <a:r>
              <a:rPr lang="en-US" b="1" dirty="0">
                <a:effectLst/>
              </a:rPr>
              <a:t>Discussed at</a:t>
            </a:r>
            <a:r>
              <a:rPr lang="en-US" dirty="0">
                <a:effectLst/>
              </a:rPr>
              <a:t>: 9/12/2025</a:t>
            </a:r>
            <a:br>
              <a:rPr lang="en-US" dirty="0">
                <a:effectLst/>
              </a:rPr>
            </a:br>
            <a:r>
              <a:rPr lang="en-US" b="1" dirty="0">
                <a:effectLst/>
              </a:rPr>
              <a:t>Supervised by: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effectLst/>
              </a:rPr>
              <a:t> </a:t>
            </a:r>
            <a:r>
              <a:rPr lang="en-US" sz="1800" b="1" dirty="0">
                <a:solidFill>
                  <a:srgbClr val="000000"/>
                </a:solidFill>
                <a:latin typeface="Open Sans" panose="020B0606030504020204" pitchFamily="34" charset="0"/>
              </a:rPr>
              <a:t>Eng\: </a:t>
            </a:r>
            <a:r>
              <a:rPr lang="en-US" sz="1800" b="1" dirty="0"/>
              <a:t>Abdelrahman Abu Zaid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000000"/>
                </a:solidFill>
                <a:latin typeface="Open Sans" panose="020B0606030504020204" pitchFamily="34" charset="0"/>
              </a:rPr>
              <a:t> Eng\: Mohamed </a:t>
            </a:r>
            <a:r>
              <a:rPr lang="en-US" sz="1800" b="1" dirty="0"/>
              <a:t>Abdullatif</a:t>
            </a:r>
          </a:p>
        </p:txBody>
      </p:sp>
      <p:grpSp>
        <p:nvGrpSpPr>
          <p:cNvPr id="284" name="Group 283">
            <a:extLst>
              <a:ext uri="{FF2B5EF4-FFF2-40B4-BE49-F238E27FC236}">
                <a16:creationId xmlns:a16="http://schemas.microsoft.com/office/drawing/2014/main" id="{0871636B-0BA7-04BA-6E20-7156F9BABEED}"/>
              </a:ext>
            </a:extLst>
          </p:cNvPr>
          <p:cNvGrpSpPr/>
          <p:nvPr/>
        </p:nvGrpSpPr>
        <p:grpSpPr>
          <a:xfrm>
            <a:off x="393914" y="2804236"/>
            <a:ext cx="6911085" cy="2586236"/>
            <a:chOff x="715938" y="3436820"/>
            <a:chExt cx="8158009" cy="2586236"/>
          </a:xfrm>
        </p:grpSpPr>
        <p:sp>
          <p:nvSpPr>
            <p:cNvPr id="264" name="Rectangle: Rounded Corners 263">
              <a:extLst>
                <a:ext uri="{FF2B5EF4-FFF2-40B4-BE49-F238E27FC236}">
                  <a16:creationId xmlns:a16="http://schemas.microsoft.com/office/drawing/2014/main" id="{7A53C0CC-A514-CDC6-E3B2-BF693DCDAA7C}"/>
                </a:ext>
              </a:extLst>
            </p:cNvPr>
            <p:cNvSpPr/>
            <p:nvPr/>
          </p:nvSpPr>
          <p:spPr>
            <a:xfrm>
              <a:off x="715938" y="3436820"/>
              <a:ext cx="8158009" cy="2586236"/>
            </a:xfrm>
            <a:prstGeom prst="roundRect">
              <a:avLst>
                <a:gd name="adj" fmla="val 13750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0" name="TextBox 279">
              <a:extLst>
                <a:ext uri="{FF2B5EF4-FFF2-40B4-BE49-F238E27FC236}">
                  <a16:creationId xmlns:a16="http://schemas.microsoft.com/office/drawing/2014/main" id="{44ED107B-28D8-4B82-6F64-D7AB1ECAFBAE}"/>
                </a:ext>
              </a:extLst>
            </p:cNvPr>
            <p:cNvSpPr txBox="1"/>
            <p:nvPr/>
          </p:nvSpPr>
          <p:spPr>
            <a:xfrm>
              <a:off x="879029" y="3690192"/>
              <a:ext cx="4790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Introduction: </a:t>
              </a:r>
            </a:p>
          </p:txBody>
        </p:sp>
        <p:sp>
          <p:nvSpPr>
            <p:cNvPr id="283" name="TextBox 282">
              <a:extLst>
                <a:ext uri="{FF2B5EF4-FFF2-40B4-BE49-F238E27FC236}">
                  <a16:creationId xmlns:a16="http://schemas.microsoft.com/office/drawing/2014/main" id="{FDB7AA5A-1632-4F40-1724-E4A3FA3F14B4}"/>
                </a:ext>
              </a:extLst>
            </p:cNvPr>
            <p:cNvSpPr txBox="1"/>
            <p:nvPr/>
          </p:nvSpPr>
          <p:spPr>
            <a:xfrm>
              <a:off x="849069" y="4223156"/>
              <a:ext cx="7935250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 err="1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Beheira</a:t>
              </a: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 Governorate is a historically rich region with 11 major landmarks. This project aims to develop a responsive, bilingual website that promotes tourism awareness and documents these landmarks using modern interactive features.</a:t>
              </a:r>
              <a:endPara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</p:txBody>
        </p:sp>
      </p:grpSp>
      <p:grpSp>
        <p:nvGrpSpPr>
          <p:cNvPr id="285" name="Group 284">
            <a:extLst>
              <a:ext uri="{FF2B5EF4-FFF2-40B4-BE49-F238E27FC236}">
                <a16:creationId xmlns:a16="http://schemas.microsoft.com/office/drawing/2014/main" id="{5C614C34-B384-352B-286F-491B2D9F482C}"/>
              </a:ext>
            </a:extLst>
          </p:cNvPr>
          <p:cNvGrpSpPr/>
          <p:nvPr/>
        </p:nvGrpSpPr>
        <p:grpSpPr>
          <a:xfrm>
            <a:off x="393913" y="5923436"/>
            <a:ext cx="6911086" cy="7865418"/>
            <a:chOff x="599024" y="3578387"/>
            <a:chExt cx="8158009" cy="3145139"/>
          </a:xfrm>
        </p:grpSpPr>
        <p:sp>
          <p:nvSpPr>
            <p:cNvPr id="286" name="Rectangle: Rounded Corners 285">
              <a:extLst>
                <a:ext uri="{FF2B5EF4-FFF2-40B4-BE49-F238E27FC236}">
                  <a16:creationId xmlns:a16="http://schemas.microsoft.com/office/drawing/2014/main" id="{C6F40229-6385-76E9-0256-652AFC1F5D14}"/>
                </a:ext>
              </a:extLst>
            </p:cNvPr>
            <p:cNvSpPr/>
            <p:nvPr/>
          </p:nvSpPr>
          <p:spPr>
            <a:xfrm>
              <a:off x="599024" y="3591568"/>
              <a:ext cx="8158009" cy="2921406"/>
            </a:xfrm>
            <a:prstGeom prst="roundRect">
              <a:avLst>
                <a:gd name="adj" fmla="val 8312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87" name="TextBox 286">
              <a:extLst>
                <a:ext uri="{FF2B5EF4-FFF2-40B4-BE49-F238E27FC236}">
                  <a16:creationId xmlns:a16="http://schemas.microsoft.com/office/drawing/2014/main" id="{B7998712-59C0-D329-3443-3E84167D4079}"/>
                </a:ext>
              </a:extLst>
            </p:cNvPr>
            <p:cNvSpPr txBox="1"/>
            <p:nvPr/>
          </p:nvSpPr>
          <p:spPr>
            <a:xfrm>
              <a:off x="715995" y="3578387"/>
              <a:ext cx="7877948" cy="258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Methodology &amp; Tools: </a:t>
              </a:r>
            </a:p>
          </p:txBody>
        </p:sp>
        <p:sp>
          <p:nvSpPr>
            <p:cNvPr id="288" name="TextBox 287">
              <a:extLst>
                <a:ext uri="{FF2B5EF4-FFF2-40B4-BE49-F238E27FC236}">
                  <a16:creationId xmlns:a16="http://schemas.microsoft.com/office/drawing/2014/main" id="{57D3132B-78E0-9CED-7788-F60DC553D4AB}"/>
                </a:ext>
              </a:extLst>
            </p:cNvPr>
            <p:cNvSpPr txBox="1"/>
            <p:nvPr/>
          </p:nvSpPr>
          <p:spPr>
            <a:xfrm>
              <a:off x="800523" y="3825275"/>
              <a:ext cx="7720939" cy="113224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The project uses a static website architecture built with HTML5, CSS3, and Vanilla JavaScript to ensure performance and accessibility. It follows a mobile-first, bilingual design approach with intuitive navigation, responsive layouts, interactive features such as dark mode and maps, and optimized performance through efficient animations.</a:t>
              </a:r>
              <a:endParaRPr lang="en-US" sz="20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endParaRPr>
            </a:p>
            <a:p>
              <a:endParaRPr lang="en-US" dirty="0"/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D1083E6F-918E-8B09-54C0-5C7C8D9E372D}"/>
                </a:ext>
              </a:extLst>
            </p:cNvPr>
            <p:cNvSpPr txBox="1"/>
            <p:nvPr/>
          </p:nvSpPr>
          <p:spPr>
            <a:xfrm>
              <a:off x="800524" y="4892111"/>
              <a:ext cx="7877948" cy="2584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Procedure: </a:t>
              </a:r>
            </a:p>
          </p:txBody>
        </p:sp>
        <p:sp>
          <p:nvSpPr>
            <p:cNvPr id="306" name="TextBox 305">
              <a:extLst>
                <a:ext uri="{FF2B5EF4-FFF2-40B4-BE49-F238E27FC236}">
                  <a16:creationId xmlns:a16="http://schemas.microsoft.com/office/drawing/2014/main" id="{5FB6E438-EE82-C43F-9D3C-CABD4AF16685}"/>
                </a:ext>
              </a:extLst>
            </p:cNvPr>
            <p:cNvSpPr txBox="1"/>
            <p:nvPr/>
          </p:nvSpPr>
          <p:spPr>
            <a:xfrm>
              <a:off x="879029" y="5135918"/>
              <a:ext cx="7720939" cy="15876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Phase 1 (Weeks 1–2)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Historical research on landmarks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Content writing in Arabic and English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Wireframing and UI/UX design</a:t>
              </a:r>
            </a:p>
            <a:p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Phase 2 (Weeks 3–5)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HTML and CSS development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Dark mode and responsive design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JavaScript features and interactions</a:t>
              </a:r>
            </a:p>
            <a:p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Phase 3 (Week 6)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Testing on different browsers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Responsive validation</a:t>
              </a:r>
              <a:b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Performance optimization</a:t>
              </a:r>
            </a:p>
            <a:p>
              <a:endParaRPr lang="en-US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endParaRPr>
            </a:p>
            <a:p>
              <a:endParaRPr lang="en-US" dirty="0"/>
            </a:p>
          </p:txBody>
        </p:sp>
      </p:grpSp>
      <p:grpSp>
        <p:nvGrpSpPr>
          <p:cNvPr id="289" name="Group 288">
            <a:extLst>
              <a:ext uri="{FF2B5EF4-FFF2-40B4-BE49-F238E27FC236}">
                <a16:creationId xmlns:a16="http://schemas.microsoft.com/office/drawing/2014/main" id="{7862CE7E-8F95-7AD8-E725-E30663FF48F2}"/>
              </a:ext>
            </a:extLst>
          </p:cNvPr>
          <p:cNvGrpSpPr/>
          <p:nvPr/>
        </p:nvGrpSpPr>
        <p:grpSpPr>
          <a:xfrm>
            <a:off x="7461250" y="10165230"/>
            <a:ext cx="6540096" cy="2861793"/>
            <a:chOff x="603250" y="3529572"/>
            <a:chExt cx="7370377" cy="2861793"/>
          </a:xfrm>
        </p:grpSpPr>
        <p:sp>
          <p:nvSpPr>
            <p:cNvPr id="290" name="Rectangle: Rounded Corners 289">
              <a:extLst>
                <a:ext uri="{FF2B5EF4-FFF2-40B4-BE49-F238E27FC236}">
                  <a16:creationId xmlns:a16="http://schemas.microsoft.com/office/drawing/2014/main" id="{0648E3C1-CE7A-8542-4FEC-480029CA4AB3}"/>
                </a:ext>
              </a:extLst>
            </p:cNvPr>
            <p:cNvSpPr/>
            <p:nvPr/>
          </p:nvSpPr>
          <p:spPr>
            <a:xfrm>
              <a:off x="603250" y="3529572"/>
              <a:ext cx="7370377" cy="2861793"/>
            </a:xfrm>
            <a:prstGeom prst="roundRect">
              <a:avLst>
                <a:gd name="adj" fmla="val 9654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1" name="TextBox 290">
              <a:extLst>
                <a:ext uri="{FF2B5EF4-FFF2-40B4-BE49-F238E27FC236}">
                  <a16:creationId xmlns:a16="http://schemas.microsoft.com/office/drawing/2014/main" id="{0D006AC9-29B7-F853-255E-308BAFE9E7DF}"/>
                </a:ext>
              </a:extLst>
            </p:cNvPr>
            <p:cNvSpPr txBox="1"/>
            <p:nvPr/>
          </p:nvSpPr>
          <p:spPr>
            <a:xfrm>
              <a:off x="879029" y="3690192"/>
              <a:ext cx="4790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Conclusion: </a:t>
              </a:r>
            </a:p>
          </p:txBody>
        </p:sp>
        <p:sp>
          <p:nvSpPr>
            <p:cNvPr id="292" name="TextBox 291">
              <a:extLst>
                <a:ext uri="{FF2B5EF4-FFF2-40B4-BE49-F238E27FC236}">
                  <a16:creationId xmlns:a16="http://schemas.microsoft.com/office/drawing/2014/main" id="{3B2F4D7F-956D-83F6-E57B-E58679FCF32A}"/>
                </a:ext>
              </a:extLst>
            </p:cNvPr>
            <p:cNvSpPr txBox="1"/>
            <p:nvPr/>
          </p:nvSpPr>
          <p:spPr>
            <a:xfrm>
              <a:off x="883311" y="4403103"/>
              <a:ext cx="6827031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Successfully created a functional tourism website using HTML, CSS, and JavaScript. The team gained practical web development experience while promoting </a:t>
              </a:r>
              <a:r>
                <a:rPr lang="en-US" sz="2000" b="1" i="0" dirty="0" err="1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Beheira's</a:t>
              </a: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 cultural heritage. The platform serves both educational and tourism purposes.</a:t>
              </a:r>
              <a:endParaRPr lang="en-US" sz="2000" b="1" dirty="0"/>
            </a:p>
          </p:txBody>
        </p:sp>
      </p:grpSp>
      <p:grpSp>
        <p:nvGrpSpPr>
          <p:cNvPr id="293" name="Group 292">
            <a:extLst>
              <a:ext uri="{FF2B5EF4-FFF2-40B4-BE49-F238E27FC236}">
                <a16:creationId xmlns:a16="http://schemas.microsoft.com/office/drawing/2014/main" id="{FB87FE36-FE02-1B93-5009-E745D1C18F1B}"/>
              </a:ext>
            </a:extLst>
          </p:cNvPr>
          <p:cNvGrpSpPr/>
          <p:nvPr/>
        </p:nvGrpSpPr>
        <p:grpSpPr>
          <a:xfrm>
            <a:off x="14166850" y="3044825"/>
            <a:ext cx="5669280" cy="3374660"/>
            <a:chOff x="603250" y="3529573"/>
            <a:chExt cx="6389008" cy="3374660"/>
          </a:xfrm>
        </p:grpSpPr>
        <p:sp>
          <p:nvSpPr>
            <p:cNvPr id="294" name="Rectangle: Rounded Corners 293">
              <a:extLst>
                <a:ext uri="{FF2B5EF4-FFF2-40B4-BE49-F238E27FC236}">
                  <a16:creationId xmlns:a16="http://schemas.microsoft.com/office/drawing/2014/main" id="{0F5FB12E-3FB0-8BC1-71C0-769D672995A9}"/>
                </a:ext>
              </a:extLst>
            </p:cNvPr>
            <p:cNvSpPr/>
            <p:nvPr/>
          </p:nvSpPr>
          <p:spPr>
            <a:xfrm>
              <a:off x="603250" y="3529573"/>
              <a:ext cx="6389008" cy="3352800"/>
            </a:xfrm>
            <a:prstGeom prst="roundRect">
              <a:avLst>
                <a:gd name="adj" fmla="val 13750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5" name="TextBox 294">
              <a:extLst>
                <a:ext uri="{FF2B5EF4-FFF2-40B4-BE49-F238E27FC236}">
                  <a16:creationId xmlns:a16="http://schemas.microsoft.com/office/drawing/2014/main" id="{A99ED0E1-FB3C-15B6-940E-FF8B18322051}"/>
                </a:ext>
              </a:extLst>
            </p:cNvPr>
            <p:cNvSpPr txBox="1"/>
            <p:nvPr/>
          </p:nvSpPr>
          <p:spPr>
            <a:xfrm>
              <a:off x="879029" y="3690192"/>
              <a:ext cx="479077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Future Work: </a:t>
              </a:r>
            </a:p>
          </p:txBody>
        </p:sp>
        <p:sp>
          <p:nvSpPr>
            <p:cNvPr id="296" name="TextBox 295">
              <a:extLst>
                <a:ext uri="{FF2B5EF4-FFF2-40B4-BE49-F238E27FC236}">
                  <a16:creationId xmlns:a16="http://schemas.microsoft.com/office/drawing/2014/main" id="{7154B37A-3C97-0AB1-1C8C-9C6B38160B09}"/>
                </a:ext>
              </a:extLst>
            </p:cNvPr>
            <p:cNvSpPr txBox="1"/>
            <p:nvPr/>
          </p:nvSpPr>
          <p:spPr>
            <a:xfrm>
              <a:off x="933785" y="4349688"/>
              <a:ext cx="5873817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Virtual Tours - 360° panoramic views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Advanced search functionality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Weather widget for locations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Print-friendly pages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Offline mode support</a:t>
              </a:r>
            </a:p>
            <a:p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-Social media integration</a:t>
              </a:r>
            </a:p>
            <a:p>
              <a:endParaRPr lang="ar-EG" sz="2000" b="1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endParaRPr>
            </a:p>
            <a:p>
              <a:endParaRPr lang="en-US" sz="2000" dirty="0"/>
            </a:p>
          </p:txBody>
        </p:sp>
      </p:grpSp>
      <p:grpSp>
        <p:nvGrpSpPr>
          <p:cNvPr id="297" name="Group 296">
            <a:extLst>
              <a:ext uri="{FF2B5EF4-FFF2-40B4-BE49-F238E27FC236}">
                <a16:creationId xmlns:a16="http://schemas.microsoft.com/office/drawing/2014/main" id="{62B5690E-CFD3-8ECA-7BDE-09E2E0C04363}"/>
              </a:ext>
            </a:extLst>
          </p:cNvPr>
          <p:cNvGrpSpPr/>
          <p:nvPr/>
        </p:nvGrpSpPr>
        <p:grpSpPr>
          <a:xfrm>
            <a:off x="14154638" y="6623834"/>
            <a:ext cx="5681492" cy="6463462"/>
            <a:chOff x="603250" y="3529573"/>
            <a:chExt cx="6402771" cy="6463462"/>
          </a:xfrm>
        </p:grpSpPr>
        <p:sp>
          <p:nvSpPr>
            <p:cNvPr id="298" name="Rectangle: Rounded Corners 297">
              <a:extLst>
                <a:ext uri="{FF2B5EF4-FFF2-40B4-BE49-F238E27FC236}">
                  <a16:creationId xmlns:a16="http://schemas.microsoft.com/office/drawing/2014/main" id="{D6FA9678-344F-6CF3-A09F-A097CE0A739C}"/>
                </a:ext>
              </a:extLst>
            </p:cNvPr>
            <p:cNvSpPr/>
            <p:nvPr/>
          </p:nvSpPr>
          <p:spPr>
            <a:xfrm>
              <a:off x="603250" y="3529573"/>
              <a:ext cx="6402771" cy="6463462"/>
            </a:xfrm>
            <a:prstGeom prst="roundRect">
              <a:avLst>
                <a:gd name="adj" fmla="val 4465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9" name="TextBox 298">
              <a:extLst>
                <a:ext uri="{FF2B5EF4-FFF2-40B4-BE49-F238E27FC236}">
                  <a16:creationId xmlns:a16="http://schemas.microsoft.com/office/drawing/2014/main" id="{9563576C-DA39-907C-5EE9-218C65A1C7E0}"/>
                </a:ext>
              </a:extLst>
            </p:cNvPr>
            <p:cNvSpPr txBox="1"/>
            <p:nvPr/>
          </p:nvSpPr>
          <p:spPr>
            <a:xfrm>
              <a:off x="879029" y="3690192"/>
              <a:ext cx="4790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References: </a:t>
              </a:r>
            </a:p>
          </p:txBody>
        </p:sp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E0FADE2F-B7A0-E0B6-50C9-7D50C70DCF8B}"/>
                </a:ext>
              </a:extLst>
            </p:cNvPr>
            <p:cNvSpPr txBox="1"/>
            <p:nvPr/>
          </p:nvSpPr>
          <p:spPr>
            <a:xfrm>
              <a:off x="883311" y="4403103"/>
              <a:ext cx="5315497" cy="16312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MDN Web Docs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W3Schools Tutorials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</a:t>
              </a:r>
              <a:r>
                <a:rPr lang="en-US" sz="2000" b="1" i="0" dirty="0" err="1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Beheira</a:t>
              </a: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 Gov. Website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Egyptian Tourism Ministry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- Google Maps API Docs</a:t>
              </a:r>
              <a:endParaRPr lang="en-US" sz="20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endParaRPr>
            </a:p>
          </p:txBody>
        </p:sp>
        <p:sp>
          <p:nvSpPr>
            <p:cNvPr id="307" name="TextBox 306">
              <a:extLst>
                <a:ext uri="{FF2B5EF4-FFF2-40B4-BE49-F238E27FC236}">
                  <a16:creationId xmlns:a16="http://schemas.microsoft.com/office/drawing/2014/main" id="{1065120C-86F2-3219-EF8E-972CB11D4BCF}"/>
                </a:ext>
              </a:extLst>
            </p:cNvPr>
            <p:cNvSpPr txBox="1"/>
            <p:nvPr/>
          </p:nvSpPr>
          <p:spPr>
            <a:xfrm>
              <a:off x="892792" y="6276906"/>
              <a:ext cx="4790773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acknowledgments: </a:t>
              </a:r>
            </a:p>
          </p:txBody>
        </p:sp>
        <p:sp>
          <p:nvSpPr>
            <p:cNvPr id="308" name="TextBox 307">
              <a:extLst>
                <a:ext uri="{FF2B5EF4-FFF2-40B4-BE49-F238E27FC236}">
                  <a16:creationId xmlns:a16="http://schemas.microsoft.com/office/drawing/2014/main" id="{880AA03C-0F19-85E8-8979-9D16D436C7BF}"/>
                </a:ext>
              </a:extLst>
            </p:cNvPr>
            <p:cNvSpPr txBox="1"/>
            <p:nvPr/>
          </p:nvSpPr>
          <p:spPr>
            <a:xfrm>
              <a:off x="879029" y="7164729"/>
              <a:ext cx="5315497" cy="255454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Thanks to Damanhur University Faculty of Computers and Information and our supervisors</a:t>
              </a:r>
              <a:r>
                <a:rPr lang="en-US" sz="2000" b="1" dirty="0">
                  <a:solidFill>
                    <a:srgbClr val="000000"/>
                  </a:solidFill>
                  <a:latin typeface="Open Sans" panose="020B0606030504020204" pitchFamily="34" charset="0"/>
                </a:rPr>
                <a:t>: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dirty="0">
                  <a:solidFill>
                    <a:srgbClr val="000000"/>
                  </a:solidFill>
                  <a:latin typeface="Open Sans" panose="020B0606030504020204" pitchFamily="34" charset="0"/>
                </a:rPr>
                <a:t>Eng\: </a:t>
              </a:r>
              <a:r>
                <a:rPr lang="en-US" sz="2000" b="1" dirty="0"/>
                <a:t>Abdelrahman Abu Zaid</a:t>
              </a: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dirty="0">
                  <a:solidFill>
                    <a:srgbClr val="000000"/>
                  </a:solidFill>
                  <a:latin typeface="Open Sans" panose="020B0606030504020204" pitchFamily="34" charset="0"/>
                </a:rPr>
                <a:t>Eng\: Mohamed </a:t>
              </a:r>
              <a:r>
                <a:rPr lang="en-US" sz="2000" b="1" dirty="0"/>
                <a:t>Abdullatif</a:t>
              </a:r>
              <a:r>
                <a:rPr lang="en-US" sz="2000" dirty="0"/>
                <a:t> </a:t>
              </a:r>
              <a:endParaRPr lang="ar-EG" sz="2000" b="1" dirty="0">
                <a:solidFill>
                  <a:srgbClr val="000000"/>
                </a:solidFill>
                <a:latin typeface="Open Sans" panose="020B0606030504020204" pitchFamily="34" charset="0"/>
              </a:endParaRPr>
            </a:p>
            <a:p>
              <a:pPr marL="342900" indent="-342900">
                <a:buFont typeface="Arial" panose="020B0604020202020204" pitchFamily="34" charset="0"/>
                <a:buChar char="•"/>
              </a:pPr>
              <a:r>
                <a:rPr lang="en-US" sz="2000" b="1" i="0" dirty="0">
                  <a:solidFill>
                    <a:srgbClr val="000000"/>
                  </a:solidFill>
                  <a:effectLst/>
                  <a:latin typeface="Open Sans" panose="020B0606030504020204" pitchFamily="34" charset="0"/>
                </a:rPr>
                <a:t> for their guidance and support throughout this project.</a:t>
              </a:r>
              <a:endParaRPr lang="en-US" sz="2000" b="0" i="0" dirty="0">
                <a:solidFill>
                  <a:srgbClr val="000000"/>
                </a:solidFill>
                <a:effectLst/>
                <a:latin typeface="Open Sans" panose="020B0606030504020204" pitchFamily="34" charset="0"/>
              </a:endParaRPr>
            </a:p>
          </p:txBody>
        </p:sp>
      </p:grpSp>
      <p:grpSp>
        <p:nvGrpSpPr>
          <p:cNvPr id="301" name="Group 300">
            <a:extLst>
              <a:ext uri="{FF2B5EF4-FFF2-40B4-BE49-F238E27FC236}">
                <a16:creationId xmlns:a16="http://schemas.microsoft.com/office/drawing/2014/main" id="{EF8FE9D3-B952-B619-CFBE-B741C75310A2}"/>
              </a:ext>
            </a:extLst>
          </p:cNvPr>
          <p:cNvGrpSpPr/>
          <p:nvPr/>
        </p:nvGrpSpPr>
        <p:grpSpPr>
          <a:xfrm>
            <a:off x="7394728" y="2802408"/>
            <a:ext cx="6540096" cy="7205015"/>
            <a:chOff x="743281" y="3523908"/>
            <a:chExt cx="7370377" cy="6841308"/>
          </a:xfrm>
        </p:grpSpPr>
        <p:sp>
          <p:nvSpPr>
            <p:cNvPr id="302" name="Rectangle: Rounded Corners 301">
              <a:extLst>
                <a:ext uri="{FF2B5EF4-FFF2-40B4-BE49-F238E27FC236}">
                  <a16:creationId xmlns:a16="http://schemas.microsoft.com/office/drawing/2014/main" id="{A20DE507-BC61-4B7C-D536-952D720C0A8B}"/>
                </a:ext>
              </a:extLst>
            </p:cNvPr>
            <p:cNvSpPr/>
            <p:nvPr/>
          </p:nvSpPr>
          <p:spPr>
            <a:xfrm>
              <a:off x="743281" y="3523908"/>
              <a:ext cx="7370377" cy="6841308"/>
            </a:xfrm>
            <a:prstGeom prst="roundRect">
              <a:avLst>
                <a:gd name="adj" fmla="val 6210"/>
              </a:avLst>
            </a:prstGeom>
            <a:solidFill>
              <a:srgbClr val="F2F4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2D71F0B-1FF5-741E-73E1-E0B710C2F627}"/>
                </a:ext>
              </a:extLst>
            </p:cNvPr>
            <p:cNvSpPr txBox="1"/>
            <p:nvPr/>
          </p:nvSpPr>
          <p:spPr>
            <a:xfrm>
              <a:off x="967128" y="3605773"/>
              <a:ext cx="4790773" cy="70788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4000" b="1" dirty="0">
                  <a:solidFill>
                    <a:srgbClr val="387AFD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Results: </a:t>
              </a:r>
            </a:p>
          </p:txBody>
        </p:sp>
        <p:sp>
          <p:nvSpPr>
            <p:cNvPr id="304" name="TextBox 303">
              <a:extLst>
                <a:ext uri="{FF2B5EF4-FFF2-40B4-BE49-F238E27FC236}">
                  <a16:creationId xmlns:a16="http://schemas.microsoft.com/office/drawing/2014/main" id="{5DCCE7BB-F7D9-D6F2-F93E-6DC46F089DFC}"/>
                </a:ext>
              </a:extLst>
            </p:cNvPr>
            <p:cNvSpPr txBox="1"/>
            <p:nvPr/>
          </p:nvSpPr>
          <p:spPr>
            <a:xfrm>
              <a:off x="883310" y="4403103"/>
              <a:ext cx="7090316" cy="409342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Website Features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12 responsive pages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Bilingual (Arabic / English)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Dark mode &amp; animations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Interactive gallery &amp; maps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Contact form</a:t>
              </a:r>
            </a:p>
            <a:p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Main Landmarks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Monasteries, lakes, palaces, mosques, forts, and heritage houses</a:t>
              </a:r>
            </a:p>
            <a:p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Performance</a:t>
              </a:r>
              <a:b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</a:br>
              <a:r>
                <a:rPr lang="en-US" sz="2000" b="1" dirty="0">
                  <a:latin typeface="Open Sans" panose="020B0606030504020204" pitchFamily="34" charset="0"/>
                  <a:ea typeface="Open Sans" panose="020B0606030504020204" pitchFamily="34" charset="0"/>
                  <a:cs typeface="Open Sans" panose="020B0606030504020204" pitchFamily="34" charset="0"/>
                </a:rPr>
                <a:t>Fast, responsive, and accessible across browsers</a:t>
              </a:r>
            </a:p>
            <a:p>
              <a:endParaRPr lang="en-US" sz="2000" b="1" dirty="0"/>
            </a:p>
          </p:txBody>
        </p:sp>
      </p:grp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544DA30-D605-08EB-27DF-0CC4C92E6B13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05962" y="7806011"/>
            <a:ext cx="1725332" cy="873005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10CE71-537B-7BBD-AC4C-6FFBFA113A6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06130" y="7773622"/>
            <a:ext cx="1725332" cy="873005"/>
          </a:xfrm>
          <a:prstGeom prst="rect">
            <a:avLst/>
          </a:prstGeom>
        </p:spPr>
      </p:pic>
      <p:pic>
        <p:nvPicPr>
          <p:cNvPr id="14" name="Picture 1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F4976E1-C1C5-2C5F-A469-64365E24691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51280" y="7773622"/>
            <a:ext cx="1725331" cy="87300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3992027-001F-40E6-2A95-863ABC1BF9D9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042388" y="8736489"/>
            <a:ext cx="1725333" cy="865365"/>
          </a:xfrm>
          <a:prstGeom prst="rect">
            <a:avLst/>
          </a:prstGeom>
        </p:spPr>
      </p:pic>
      <p:pic>
        <p:nvPicPr>
          <p:cNvPr id="21" name="Picture 2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D85DC9F-0554-531D-FD11-B1021898D8E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806908" y="8732890"/>
            <a:ext cx="1725331" cy="872561"/>
          </a:xfrm>
          <a:prstGeom prst="rect">
            <a:avLst/>
          </a:prstGeom>
        </p:spPr>
      </p:pic>
      <p:pic>
        <p:nvPicPr>
          <p:cNvPr id="25" name="Picture 2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9F0955F-27A5-5260-38CF-042FF54D3224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1323" y="8735807"/>
            <a:ext cx="1725331" cy="869644"/>
          </a:xfrm>
          <a:prstGeom prst="rect">
            <a:avLst/>
          </a:prstGeom>
        </p:spPr>
      </p:pic>
      <p:pic>
        <p:nvPicPr>
          <p:cNvPr id="3" name="Picture 2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47A0DE7-CDEF-25DC-262F-114D7AF4430B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8971" y="11581941"/>
            <a:ext cx="1648844" cy="1525631"/>
          </a:xfrm>
          <a:prstGeom prst="rect">
            <a:avLst/>
          </a:prstGeom>
        </p:spPr>
      </p:pic>
      <p:pic>
        <p:nvPicPr>
          <p:cNvPr id="5" name="Picture 4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8FA7FEC6-4AC8-83F4-5A69-30BB2AC5F205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1903" y="8918271"/>
            <a:ext cx="1871973" cy="1201773"/>
          </a:xfrm>
          <a:prstGeom prst="rect">
            <a:avLst/>
          </a:prstGeom>
        </p:spPr>
      </p:pic>
      <p:pic>
        <p:nvPicPr>
          <p:cNvPr id="8" name="Picture 7" descr="A computer screen shot of text&#10;&#10;AI-generated content may be incorrect.">
            <a:extLst>
              <a:ext uri="{FF2B5EF4-FFF2-40B4-BE49-F238E27FC236}">
                <a16:creationId xmlns:a16="http://schemas.microsoft.com/office/drawing/2014/main" id="{CB4DC234-633A-97BA-B7BC-3F08055EC62B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5233461" y="10355682"/>
            <a:ext cx="1871974" cy="105434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250</TotalTime>
  <Words>386</Words>
  <Application>Microsoft Office PowerPoint</Application>
  <PresentationFormat>Custom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Open Sans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محمد جمعه عبدالعزيز محمد سلطان</cp:lastModifiedBy>
  <cp:revision>11</cp:revision>
  <dcterms:created xsi:type="dcterms:W3CDTF">2025-12-08T21:47:57Z</dcterms:created>
  <dcterms:modified xsi:type="dcterms:W3CDTF">2025-12-14T01:13:01Z</dcterms:modified>
</cp:coreProperties>
</file>